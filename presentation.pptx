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swald" charset="1" panose="00000500000000000000"/>
      <p:regular r:id="rId19"/>
    </p:embeddedFont>
    <p:embeddedFont>
      <p:font typeface="Oswald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9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89034" y="8674504"/>
            <a:ext cx="3070266" cy="57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5"/>
              </a:lnSpc>
              <a:spcBef>
                <a:spcPct val="0"/>
              </a:spcBef>
            </a:pPr>
            <a:r>
              <a:rPr lang="en-US" sz="3467">
                <a:solidFill>
                  <a:srgbClr val="E1CBA7"/>
                </a:solidFill>
                <a:latin typeface="Oswald"/>
                <a:ea typeface="Oswald"/>
                <a:cs typeface="Oswald"/>
                <a:sym typeface="Oswald"/>
              </a:rPr>
              <a:t>Anıl Sürmeli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59534" y="3505256"/>
            <a:ext cx="15968932" cy="3162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Yazılım Test Mühendisliği </a:t>
            </a:r>
          </a:p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Ve </a:t>
            </a:r>
          </a:p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Test Projesi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9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12143880" cy="8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1"/>
              </a:lnSpc>
              <a:spcBef>
                <a:spcPct val="0"/>
              </a:spcBef>
            </a:pPr>
            <a:r>
              <a:rPr lang="en-US" b="true" sz="5001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Görünmeyen </a:t>
            </a:r>
            <a:r>
              <a:rPr lang="en-US" b="true" sz="5001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Ama Kritik Rol: Test Mühendisliği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04098"/>
            <a:ext cx="13788951" cy="166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1"/>
              </a:lnSpc>
            </a:pPr>
            <a:r>
              <a:rPr lang="en-US" b="true" sz="32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Yazılım test mühendisliği, çoğu zaman geliştirme sürecinin arka planında kalır. Ancak bir projenin gerçekten güvenilir, sürdürülebilir ve kullanıcıya hazır hale gelmesinde kritik rol oynar.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086350"/>
            <a:ext cx="11974629" cy="2785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159" indent="-345580" lvl="1">
              <a:lnSpc>
                <a:spcPts val="4481"/>
              </a:lnSpc>
              <a:buFont typeface="Arial"/>
              <a:buChar char="•"/>
            </a:pPr>
            <a:r>
              <a:rPr lang="en-US" b="true" sz="32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Kodun sadece yazılmış olması yeterli değildir; doğru çalıştığı da kanıtlanmalıdır.</a:t>
            </a:r>
          </a:p>
          <a:p>
            <a:pPr algn="l" marL="691159" indent="-345580" lvl="1">
              <a:lnSpc>
                <a:spcPts val="4481"/>
              </a:lnSpc>
              <a:buFont typeface="Arial"/>
              <a:buChar char="•"/>
            </a:pPr>
            <a:r>
              <a:rPr lang="en-US" b="true" sz="32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Küçük bir hata, kullanıcı tarafında büyük bir probleme dönüşebilir.</a:t>
            </a:r>
          </a:p>
          <a:p>
            <a:pPr algn="l" marL="691159" indent="-345580" lvl="1">
              <a:lnSpc>
                <a:spcPts val="4481"/>
              </a:lnSpc>
              <a:buFont typeface="Arial"/>
              <a:buChar char="•"/>
            </a:pPr>
            <a:r>
              <a:rPr lang="en-US" b="true" sz="32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Test süreci, hataları kullanıcıya ulaşmadan önce yakalamayı amaçlar.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9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7340448" cy="8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  <a:spcBef>
                <a:spcPct val="0"/>
              </a:spcBef>
            </a:pPr>
            <a:r>
              <a:rPr lang="en-US" b="true" sz="5001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Neden</a:t>
            </a:r>
            <a:r>
              <a:rPr lang="en-US" b="true" sz="5001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 Test Ediyoruz?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35855"/>
            <a:ext cx="15345099" cy="166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1"/>
              </a:lnSpc>
              <a:spcBef>
                <a:spcPct val="0"/>
              </a:spcBef>
            </a:pPr>
            <a:r>
              <a:rPr lang="en-US" b="true" sz="32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Testin amacı sadece hata bulmak değil, sistemin beklenen davranışı sürekli olarak koruduğundan emin olmaktır. Özellikle API’lerde küçük bir değişiklik bile farklı ekranları veya servisleri etkileyebilir.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076825"/>
            <a:ext cx="7919806" cy="346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749" indent="-356374" lvl="1">
              <a:lnSpc>
                <a:spcPts val="4621"/>
              </a:lnSpc>
              <a:buFont typeface="Arial"/>
              <a:buChar char="•"/>
            </a:pPr>
            <a:r>
              <a:rPr lang="en-US" b="true" sz="33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Servis cevap veriyor mu?</a:t>
            </a:r>
          </a:p>
          <a:p>
            <a:pPr algn="l" marL="712749" indent="-356374" lvl="1">
              <a:lnSpc>
                <a:spcPts val="4621"/>
              </a:lnSpc>
              <a:buFont typeface="Arial"/>
              <a:buChar char="•"/>
            </a:pPr>
            <a:r>
              <a:rPr lang="en-US" b="true" sz="33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Doğru status code dönüyor mu?</a:t>
            </a:r>
          </a:p>
          <a:p>
            <a:pPr algn="l" marL="712749" indent="-356374" lvl="1">
              <a:lnSpc>
                <a:spcPts val="4621"/>
              </a:lnSpc>
              <a:buFont typeface="Arial"/>
              <a:buChar char="•"/>
            </a:pPr>
            <a:r>
              <a:rPr lang="en-US" b="true" sz="33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Beklenen veriler geliyor mu?</a:t>
            </a:r>
          </a:p>
          <a:p>
            <a:pPr algn="l" marL="712749" indent="-356374" lvl="1">
              <a:lnSpc>
                <a:spcPts val="4621"/>
              </a:lnSpc>
              <a:buFont typeface="Arial"/>
              <a:buChar char="•"/>
            </a:pPr>
            <a:r>
              <a:rPr lang="en-US" b="true" sz="33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Cevap süresi kabul edilebilir mi?</a:t>
            </a:r>
          </a:p>
          <a:p>
            <a:pPr algn="l" marL="712749" indent="-356374" lvl="1">
              <a:lnSpc>
                <a:spcPts val="4621"/>
              </a:lnSpc>
              <a:buFont typeface="Arial"/>
              <a:buChar char="•"/>
            </a:pPr>
            <a:r>
              <a:rPr lang="en-US" b="true" sz="33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Yeni değişiklikler eski yapıyı bozmuş mu?</a:t>
            </a:r>
          </a:p>
          <a:p>
            <a:pPr algn="l">
              <a:lnSpc>
                <a:spcPts val="462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559112" y="5411314"/>
            <a:ext cx="4532983" cy="397636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923925"/>
            <a:ext cx="8728274" cy="8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1"/>
              </a:lnSpc>
              <a:spcBef>
                <a:spcPct val="0"/>
              </a:spcBef>
            </a:pPr>
            <a:r>
              <a:rPr lang="en-US" b="true" sz="5001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Hata Ne Zaman Pahalı Hale Gelir?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77428"/>
            <a:ext cx="12022667" cy="2980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338" indent="-367169" lvl="1">
              <a:lnSpc>
                <a:spcPts val="4761"/>
              </a:lnSpc>
              <a:buFont typeface="Arial"/>
              <a:buChar char="•"/>
            </a:pPr>
            <a:r>
              <a:rPr lang="en-US" b="true" sz="34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H</a:t>
            </a:r>
            <a:r>
              <a:rPr lang="en-US" b="true" sz="34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atalar ne kadar geç bulunursa çözüm maliyeti o kadar artar.</a:t>
            </a:r>
          </a:p>
          <a:p>
            <a:pPr algn="l" marL="734338" indent="-367169" lvl="1">
              <a:lnSpc>
                <a:spcPts val="4761"/>
              </a:lnSpc>
              <a:buFont typeface="Arial"/>
              <a:buChar char="•"/>
            </a:pPr>
            <a:r>
              <a:rPr lang="en-US" b="true" sz="34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Küçük bir API hatası, farklı ekranları veya sistemleri etkileyebilir.</a:t>
            </a:r>
          </a:p>
          <a:p>
            <a:pPr algn="l" marL="734338" indent="-367169" lvl="1">
              <a:lnSpc>
                <a:spcPts val="4761"/>
              </a:lnSpc>
              <a:buFont typeface="Arial"/>
              <a:buChar char="•"/>
            </a:pPr>
            <a:r>
              <a:rPr lang="en-US" b="true" sz="34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Erken test, hem zaman hem maliyet kazandırır.</a:t>
            </a:r>
          </a:p>
          <a:p>
            <a:pPr algn="l">
              <a:lnSpc>
                <a:spcPts val="476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651351"/>
            <a:ext cx="10611983" cy="2540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b="true" sz="2394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2012’de Knight Capital ( finansal hizmetler firması ), hatalı yazılım dağıtımı nedeniyle yaklaşık 45 dakikada 440 milyon dolar kaybetti.</a:t>
            </a:r>
          </a:p>
          <a:p>
            <a:pPr algn="l">
              <a:lnSpc>
                <a:spcPts val="3352"/>
              </a:lnSpc>
            </a:pPr>
            <a:r>
              <a:rPr lang="en-US" b="true" sz="2394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Sebep:</a:t>
            </a:r>
          </a:p>
          <a:p>
            <a:pPr algn="l" marL="516961" indent="-258480" lvl="1">
              <a:lnSpc>
                <a:spcPts val="3352"/>
              </a:lnSpc>
              <a:buFont typeface="Arial"/>
              <a:buChar char="•"/>
            </a:pPr>
            <a:r>
              <a:rPr lang="en-US" b="true" sz="2394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Yeni yazılım tüm sunuculara doğru şekilde dağıtılmadı.</a:t>
            </a:r>
          </a:p>
          <a:p>
            <a:pPr algn="l" marL="516961" indent="-258480" lvl="1">
              <a:lnSpc>
                <a:spcPts val="3352"/>
              </a:lnSpc>
              <a:buFont typeface="Arial"/>
              <a:buChar char="•"/>
            </a:pPr>
            <a:r>
              <a:rPr lang="en-US" b="true" sz="2394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Eski kod bazı makinelerde aktif kaldı.</a:t>
            </a:r>
          </a:p>
          <a:p>
            <a:pPr algn="l" marL="516961" indent="-258480" lvl="1">
              <a:lnSpc>
                <a:spcPts val="3352"/>
              </a:lnSpc>
              <a:buFont typeface="Arial"/>
              <a:buChar char="•"/>
            </a:pPr>
            <a:r>
              <a:rPr lang="en-US" b="true" sz="2394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Sistem hatalı alım-satım emirleri üretmeye başladı.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475341"/>
            <a:ext cx="11446987" cy="101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1"/>
              </a:lnSpc>
              <a:spcBef>
                <a:spcPct val="0"/>
              </a:spcBef>
            </a:pPr>
            <a:r>
              <a:rPr lang="en-US" b="true" sz="29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</a:t>
            </a:r>
            <a:r>
              <a:rPr lang="en-US" b="true" sz="290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anlıya alma kontrolleri eksik olduğunda küçük bir yazılım hatası çok büyük maddi kayba dönüşebilir.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618916"/>
            <a:ext cx="9079019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Ku</a:t>
            </a:r>
            <a:r>
              <a:rPr lang="en-US" b="true" sz="35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llanılan Teknolojiler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344217"/>
            <a:ext cx="10308167" cy="377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4719" indent="-337359" lvl="1">
              <a:lnSpc>
                <a:spcPts val="6125"/>
              </a:lnSpc>
              <a:buFont typeface="Arial"/>
              <a:buChar char="•"/>
            </a:pPr>
            <a:r>
              <a:rPr lang="en-US" sz="31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Java 17: Test kodlarını yazmak için</a:t>
            </a:r>
          </a:p>
          <a:p>
            <a:pPr algn="l" marL="674719" indent="-337359" lvl="1">
              <a:lnSpc>
                <a:spcPts val="6125"/>
              </a:lnSpc>
              <a:buFont typeface="Arial"/>
              <a:buChar char="•"/>
            </a:pPr>
            <a:r>
              <a:rPr lang="en-US" sz="31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Maven: Proje yönetimi ve bağımlılıkları yönetmek için</a:t>
            </a:r>
          </a:p>
          <a:p>
            <a:pPr algn="l" marL="674719" indent="-337359" lvl="1">
              <a:lnSpc>
                <a:spcPts val="6125"/>
              </a:lnSpc>
              <a:buFont typeface="Arial"/>
              <a:buChar char="•"/>
            </a:pPr>
            <a:r>
              <a:rPr lang="en-US" sz="31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JUnit 5: Test framework’ü olarak</a:t>
            </a:r>
          </a:p>
          <a:p>
            <a:pPr algn="l" marL="674719" indent="-337359" lvl="1">
              <a:lnSpc>
                <a:spcPts val="6125"/>
              </a:lnSpc>
              <a:buFont typeface="Arial"/>
              <a:buChar char="•"/>
            </a:pPr>
            <a:r>
              <a:rPr lang="en-US" sz="31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Rest Assured: API istekleri göndermek ve response doğrulamak için</a:t>
            </a:r>
          </a:p>
          <a:p>
            <a:pPr algn="l" marL="674719" indent="-337359" lvl="1">
              <a:lnSpc>
                <a:spcPts val="6125"/>
              </a:lnSpc>
              <a:buFont typeface="Arial"/>
              <a:buChar char="•"/>
            </a:pPr>
            <a:r>
              <a:rPr lang="en-US" sz="31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JSONPlaceholder: Test edilen örnek API servisi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88506"/>
            <a:ext cx="11408189" cy="159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6"/>
              </a:lnSpc>
            </a:pPr>
            <a:r>
              <a:rPr lang="en-US" sz="3018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Rest Assured kullanarak bir REST API servisinin temel işlevlerini otomatik testlerle doğrulamaktır. Bu kapsamda GET, POST ve DELETE istekleri gönderilerek status code, response body ve response time kontrolleri yapılmıştır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228512" y="2535593"/>
            <a:ext cx="4196285" cy="6055398"/>
          </a:xfrm>
          <a:custGeom>
            <a:avLst/>
            <a:gdLst/>
            <a:ahLst/>
            <a:cxnLst/>
            <a:rect r="r" b="b" t="t" l="l"/>
            <a:pathLst>
              <a:path h="6055398" w="4196285">
                <a:moveTo>
                  <a:pt x="0" y="0"/>
                </a:moveTo>
                <a:lnTo>
                  <a:pt x="4196285" y="0"/>
                </a:lnTo>
                <a:lnTo>
                  <a:pt x="4196285" y="6055398"/>
                </a:lnTo>
                <a:lnTo>
                  <a:pt x="0" y="6055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23925"/>
            <a:ext cx="6341441" cy="8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1"/>
              </a:lnSpc>
              <a:spcBef>
                <a:spcPct val="0"/>
              </a:spcBef>
            </a:pPr>
            <a:r>
              <a:rPr lang="en-US" b="true" sz="5001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Pr</a:t>
            </a:r>
            <a:r>
              <a:rPr lang="en-US" b="true" sz="5001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ojenin Amacı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79507"/>
            <a:ext cx="9980414" cy="2966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9487" indent="-369744" lvl="1">
              <a:lnSpc>
                <a:spcPts val="5788"/>
              </a:lnSpc>
              <a:buFont typeface="Arial"/>
              <a:buChar char="•"/>
            </a:pPr>
            <a:r>
              <a:rPr lang="en-US" sz="34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BASE_URI </a:t>
            </a:r>
            <a:r>
              <a:rPr lang="en-US" sz="34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tanımlanıyor.</a:t>
            </a:r>
          </a:p>
          <a:p>
            <a:pPr algn="l" marL="739487" indent="-369744" lvl="1">
              <a:lnSpc>
                <a:spcPts val="5788"/>
              </a:lnSpc>
              <a:buFont typeface="Arial"/>
              <a:buChar char="•"/>
            </a:pPr>
            <a:r>
              <a:rPr lang="en-US" sz="34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RequestSpecification oluşturuluyor.</a:t>
            </a:r>
          </a:p>
          <a:p>
            <a:pPr algn="l" marL="739487" indent="-369744" lvl="1">
              <a:lnSpc>
                <a:spcPts val="5788"/>
              </a:lnSpc>
              <a:buFont typeface="Arial"/>
              <a:buChar char="•"/>
            </a:pPr>
            <a:r>
              <a:rPr lang="en-US" sz="34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Tüm isteklerde ortak olarak JSON content type kullanılıyor.</a:t>
            </a:r>
          </a:p>
          <a:p>
            <a:pPr algn="l">
              <a:lnSpc>
                <a:spcPts val="7158"/>
              </a:lnSpc>
            </a:pPr>
            <a:r>
              <a:rPr lang="en-US" sz="34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Amaç: Her testte aynı ayarları tekrar yazmamak.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748800" y="5679796"/>
            <a:ext cx="10790400" cy="4029748"/>
          </a:xfrm>
          <a:custGeom>
            <a:avLst/>
            <a:gdLst/>
            <a:ahLst/>
            <a:cxnLst/>
            <a:rect r="r" b="b" t="t" l="l"/>
            <a:pathLst>
              <a:path h="4029748" w="10790400">
                <a:moveTo>
                  <a:pt x="0" y="0"/>
                </a:moveTo>
                <a:lnTo>
                  <a:pt x="10790400" y="0"/>
                </a:lnTo>
                <a:lnTo>
                  <a:pt x="10790400" y="4029748"/>
                </a:lnTo>
                <a:lnTo>
                  <a:pt x="0" y="402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29920"/>
            <a:ext cx="8583255" cy="86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B</a:t>
            </a:r>
            <a:r>
              <a:rPr lang="en-US" b="true" sz="5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aseTest.java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32049" y="5597223"/>
            <a:ext cx="11023902" cy="3854511"/>
          </a:xfrm>
          <a:custGeom>
            <a:avLst/>
            <a:gdLst/>
            <a:ahLst/>
            <a:cxnLst/>
            <a:rect r="r" b="b" t="t" l="l"/>
            <a:pathLst>
              <a:path h="3854511" w="11023902">
                <a:moveTo>
                  <a:pt x="0" y="0"/>
                </a:moveTo>
                <a:lnTo>
                  <a:pt x="11023902" y="0"/>
                </a:lnTo>
                <a:lnTo>
                  <a:pt x="11023902" y="3854511"/>
                </a:lnTo>
                <a:lnTo>
                  <a:pt x="0" y="38545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9920"/>
            <a:ext cx="5773924" cy="86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TestD</a:t>
            </a:r>
            <a:r>
              <a:rPr lang="en-US" b="true" sz="5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ata.java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58192"/>
            <a:ext cx="14181291" cy="2434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6664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Endpoint</a:t>
            </a:r>
            <a:r>
              <a:rPr lang="en-US" sz="3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bilgisi burada tutuluyor.</a:t>
            </a:r>
          </a:p>
          <a:p>
            <a:pPr algn="l" marL="734061" indent="-367031" lvl="1">
              <a:lnSpc>
                <a:spcPts val="6664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Response time limitleri burada tanımlanıyor.</a:t>
            </a:r>
          </a:p>
          <a:p>
            <a:pPr algn="l" marL="734061" indent="-367031" lvl="1">
              <a:lnSpc>
                <a:spcPts val="6664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POST isteği için örnek request body burada oluşturuluyor.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44578" y="5914321"/>
            <a:ext cx="6424971" cy="3763025"/>
          </a:xfrm>
          <a:custGeom>
            <a:avLst/>
            <a:gdLst/>
            <a:ahLst/>
            <a:cxnLst/>
            <a:rect r="r" b="b" t="t" l="l"/>
            <a:pathLst>
              <a:path h="3763025" w="6424971">
                <a:moveTo>
                  <a:pt x="0" y="0"/>
                </a:moveTo>
                <a:lnTo>
                  <a:pt x="6424972" y="0"/>
                </a:lnTo>
                <a:lnTo>
                  <a:pt x="6424972" y="3763024"/>
                </a:lnTo>
                <a:lnTo>
                  <a:pt x="0" y="3763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5914321"/>
            <a:ext cx="8115300" cy="3763025"/>
          </a:xfrm>
          <a:custGeom>
            <a:avLst/>
            <a:gdLst/>
            <a:ahLst/>
            <a:cxnLst/>
            <a:rect r="r" b="b" t="t" l="l"/>
            <a:pathLst>
              <a:path h="3763025" w="8115300">
                <a:moveTo>
                  <a:pt x="0" y="0"/>
                </a:moveTo>
                <a:lnTo>
                  <a:pt x="8115300" y="0"/>
                </a:lnTo>
                <a:lnTo>
                  <a:pt x="8115300" y="3763024"/>
                </a:lnTo>
                <a:lnTo>
                  <a:pt x="0" y="3763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48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122867"/>
            <a:ext cx="16230600" cy="280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5262" indent="-362631" lvl="1">
              <a:lnSpc>
                <a:spcPts val="5677"/>
              </a:lnSpc>
              <a:buFont typeface="Arial"/>
              <a:buChar char="•"/>
            </a:pPr>
            <a:r>
              <a:rPr lang="en-US" sz="3359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/posts/1 endpoint’ine GET is</a:t>
            </a:r>
            <a:r>
              <a:rPr lang="en-US" sz="3359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teği gönderiliyor.</a:t>
            </a:r>
          </a:p>
          <a:p>
            <a:pPr algn="l" marL="725262" indent="-362631" lvl="1">
              <a:lnSpc>
                <a:spcPts val="5677"/>
              </a:lnSpc>
              <a:buFont typeface="Arial"/>
              <a:buChar char="•"/>
            </a:pPr>
            <a:r>
              <a:rPr lang="en-US" sz="3359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Status code 200 bekleniyor.</a:t>
            </a:r>
          </a:p>
          <a:p>
            <a:pPr algn="l" marL="725262" indent="-362631" lvl="1">
              <a:lnSpc>
                <a:spcPts val="5677"/>
              </a:lnSpc>
              <a:buFont typeface="Arial"/>
              <a:buChar char="•"/>
            </a:pPr>
            <a:r>
              <a:rPr lang="en-US" sz="3359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Response içinde userId, id ve title alanları kontrol ediliyor.</a:t>
            </a:r>
          </a:p>
          <a:p>
            <a:pPr algn="l" marL="725262" indent="-362631" lvl="1">
              <a:lnSpc>
                <a:spcPts val="5677"/>
              </a:lnSpc>
              <a:buFont typeface="Arial"/>
              <a:buChar char="•"/>
            </a:pPr>
            <a:r>
              <a:rPr lang="en-US" sz="3359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Ayrıca performans testinde belirlenen süre altında cevap dönüp dönmediği kontrol ediliyor.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29920"/>
            <a:ext cx="5622441" cy="86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b="true" sz="5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GET </a:t>
            </a:r>
            <a:r>
              <a:rPr lang="en-US" b="true" sz="5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Testi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3166" y="5511392"/>
            <a:ext cx="7541668" cy="4135326"/>
          </a:xfrm>
          <a:custGeom>
            <a:avLst/>
            <a:gdLst/>
            <a:ahLst/>
            <a:cxnLst/>
            <a:rect r="r" b="b" t="t" l="l"/>
            <a:pathLst>
              <a:path h="4135326" w="7541668">
                <a:moveTo>
                  <a:pt x="0" y="0"/>
                </a:moveTo>
                <a:lnTo>
                  <a:pt x="7541668" y="0"/>
                </a:lnTo>
                <a:lnTo>
                  <a:pt x="7541668" y="4135326"/>
                </a:lnTo>
                <a:lnTo>
                  <a:pt x="0" y="4135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98299"/>
            <a:ext cx="15304295" cy="2608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7898" indent="-358949" lvl="1">
              <a:lnSpc>
                <a:spcPts val="5087"/>
              </a:lnSpc>
              <a:buFont typeface="Arial"/>
              <a:buChar char="•"/>
            </a:pPr>
            <a:r>
              <a:rPr lang="en-US" sz="33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POST testinde Java nesnesi olarak hazırlanan request body, Rest Assured tarafından JSON formatına çevrilir. Böylece manuel JSON string yazmak yerine daha düzenli ve güvenli bir yapı kullanılmış olur.</a:t>
            </a:r>
          </a:p>
          <a:p>
            <a:pPr algn="l" marL="717898" indent="-358949" lvl="1">
              <a:lnSpc>
                <a:spcPts val="6517"/>
              </a:lnSpc>
              <a:buFont typeface="Arial"/>
              <a:buChar char="•"/>
            </a:pPr>
            <a:r>
              <a:rPr lang="en-US" sz="33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Status code 201 bekleniyor.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29920"/>
            <a:ext cx="8583255" cy="86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b="true" sz="5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POST </a:t>
            </a:r>
            <a:r>
              <a:rPr lang="en-US" b="true" sz="5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Testi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76507" y="5712097"/>
            <a:ext cx="8983026" cy="4144569"/>
          </a:xfrm>
          <a:custGeom>
            <a:avLst/>
            <a:gdLst/>
            <a:ahLst/>
            <a:cxnLst/>
            <a:rect r="r" b="b" t="t" l="l"/>
            <a:pathLst>
              <a:path h="4144569" w="8983026">
                <a:moveTo>
                  <a:pt x="0" y="0"/>
                </a:moveTo>
                <a:lnTo>
                  <a:pt x="8983026" y="0"/>
                </a:lnTo>
                <a:lnTo>
                  <a:pt x="8983026" y="4144570"/>
                </a:lnTo>
                <a:lnTo>
                  <a:pt x="0" y="414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4508" y="2369857"/>
            <a:ext cx="16304792" cy="303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4719" indent="-337359" lvl="1">
              <a:lnSpc>
                <a:spcPts val="4375"/>
              </a:lnSpc>
              <a:buFont typeface="Arial"/>
              <a:buChar char="•"/>
            </a:pPr>
            <a:r>
              <a:rPr lang="en-US" sz="31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DELETE testinde belirli bir post siliniyormuş gibi istek gönderilir. JSONPlaceholder gerçek silme işlemi yapmasa da DELETE isteğine başarılı response döndürür. Bu response üzerinden status code ve body kontrol edilir.</a:t>
            </a:r>
          </a:p>
          <a:p>
            <a:pPr algn="l" marL="739487" indent="-369744" lvl="1">
              <a:lnSpc>
                <a:spcPts val="4795"/>
              </a:lnSpc>
              <a:buFont typeface="Arial"/>
              <a:buChar char="•"/>
            </a:pPr>
            <a:r>
              <a:rPr lang="en-US" sz="34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Status code 200 bekleniyor.</a:t>
            </a:r>
          </a:p>
          <a:p>
            <a:pPr algn="l">
              <a:lnSpc>
                <a:spcPts val="8151"/>
              </a:lnSpc>
            </a:pPr>
            <a:r>
              <a:rPr lang="en-US" sz="34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Amaç: Silme çağrısının beklenen başarılı yanıtı verdiğini doğrulamak.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29920"/>
            <a:ext cx="7302531" cy="86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b="true" sz="5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DELETE </a:t>
            </a:r>
            <a:r>
              <a:rPr lang="en-US" b="true" sz="5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Testi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9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4464" y="2491484"/>
            <a:ext cx="10307118" cy="6374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091" indent="-356046" lvl="1">
              <a:lnSpc>
                <a:spcPts val="4617"/>
              </a:lnSpc>
              <a:buFont typeface="Arial"/>
              <a:buChar char="•"/>
            </a:pPr>
            <a:r>
              <a:rPr lang="en-US" sz="3298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</a:t>
            </a:r>
            <a:r>
              <a:rPr lang="en-US" sz="3298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tatus code kontrolü:</a:t>
            </a:r>
          </a:p>
          <a:p>
            <a:pPr algn="l" marL="1424182" indent="-474727" lvl="2">
              <a:lnSpc>
                <a:spcPts val="4617"/>
              </a:lnSpc>
              <a:buFont typeface="Arial"/>
              <a:buChar char="⚬"/>
            </a:pPr>
            <a:r>
              <a:rPr lang="en-US" sz="3298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GET için 200</a:t>
            </a:r>
          </a:p>
          <a:p>
            <a:pPr algn="l" marL="1424182" indent="-474727" lvl="2">
              <a:lnSpc>
                <a:spcPts val="4617"/>
              </a:lnSpc>
              <a:buFont typeface="Arial"/>
              <a:buChar char="⚬"/>
            </a:pPr>
            <a:r>
              <a:rPr lang="en-US" sz="3298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POST için 201</a:t>
            </a:r>
          </a:p>
          <a:p>
            <a:pPr algn="l" marL="1424182" indent="-474727" lvl="2">
              <a:lnSpc>
                <a:spcPts val="4617"/>
              </a:lnSpc>
              <a:buFont typeface="Arial"/>
              <a:buChar char="⚬"/>
            </a:pPr>
            <a:r>
              <a:rPr lang="en-US" sz="3298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DELETE için 200</a:t>
            </a:r>
          </a:p>
          <a:p>
            <a:pPr algn="l" marL="712091" indent="-356046" lvl="1">
              <a:lnSpc>
                <a:spcPts val="4617"/>
              </a:lnSpc>
              <a:buFont typeface="Arial"/>
              <a:buChar char="•"/>
            </a:pPr>
            <a:r>
              <a:rPr lang="en-US" sz="3298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Response body kontrolü:</a:t>
            </a:r>
          </a:p>
          <a:p>
            <a:pPr algn="l" marL="1424182" indent="-474727" lvl="2">
              <a:lnSpc>
                <a:spcPts val="4617"/>
              </a:lnSpc>
              <a:buFont typeface="Arial"/>
              <a:buChar char="⚬"/>
            </a:pPr>
            <a:r>
              <a:rPr lang="en-US" sz="3298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GET response alanları</a:t>
            </a:r>
          </a:p>
          <a:p>
            <a:pPr algn="l" marL="1424182" indent="-474727" lvl="2">
              <a:lnSpc>
                <a:spcPts val="4617"/>
              </a:lnSpc>
              <a:buFont typeface="Arial"/>
              <a:buChar char="⚬"/>
            </a:pPr>
            <a:r>
              <a:rPr lang="en-US" sz="3298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POST response alanları</a:t>
            </a:r>
          </a:p>
          <a:p>
            <a:pPr algn="l" marL="1424182" indent="-474727" lvl="2">
              <a:lnSpc>
                <a:spcPts val="4617"/>
              </a:lnSpc>
              <a:buFont typeface="Arial"/>
              <a:buChar char="⚬"/>
            </a:pPr>
            <a:r>
              <a:rPr lang="en-US" sz="3298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DELETE boş JSON response</a:t>
            </a:r>
          </a:p>
          <a:p>
            <a:pPr algn="l" marL="712091" indent="-356046" lvl="1">
              <a:lnSpc>
                <a:spcPts val="4617"/>
              </a:lnSpc>
              <a:buFont typeface="Arial"/>
              <a:buChar char="•"/>
            </a:pPr>
            <a:r>
              <a:rPr lang="en-US" sz="3298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Response time kontrolü:</a:t>
            </a:r>
          </a:p>
          <a:p>
            <a:pPr algn="l" marL="1424182" indent="-474727" lvl="2">
              <a:lnSpc>
                <a:spcPts val="4617"/>
              </a:lnSpc>
              <a:buFont typeface="Arial"/>
              <a:buChar char="⚬"/>
            </a:pPr>
            <a:r>
              <a:rPr lang="en-US" sz="3298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GET, POST ve DELETE için ayrı SLA limitleri</a:t>
            </a:r>
          </a:p>
          <a:p>
            <a:pPr algn="l">
              <a:lnSpc>
                <a:spcPts val="461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78437"/>
            <a:ext cx="13072675" cy="86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5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Testlerin Çalıştırılması ve Sonuç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235" y="2102360"/>
            <a:ext cx="6850992" cy="447740"/>
          </a:xfrm>
          <a:custGeom>
            <a:avLst/>
            <a:gdLst/>
            <a:ahLst/>
            <a:cxnLst/>
            <a:rect r="r" b="b" t="t" l="l"/>
            <a:pathLst>
              <a:path h="447740" w="6850992">
                <a:moveTo>
                  <a:pt x="0" y="0"/>
                </a:moveTo>
                <a:lnTo>
                  <a:pt x="6850992" y="0"/>
                </a:lnTo>
                <a:lnTo>
                  <a:pt x="6850992" y="447740"/>
                </a:lnTo>
                <a:lnTo>
                  <a:pt x="0" y="447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3" t="0" r="-11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8235" y="4161464"/>
            <a:ext cx="9813541" cy="486907"/>
          </a:xfrm>
          <a:custGeom>
            <a:avLst/>
            <a:gdLst/>
            <a:ahLst/>
            <a:cxnLst/>
            <a:rect r="r" b="b" t="t" l="l"/>
            <a:pathLst>
              <a:path h="486907" w="9813541">
                <a:moveTo>
                  <a:pt x="0" y="0"/>
                </a:moveTo>
                <a:lnTo>
                  <a:pt x="9813541" y="0"/>
                </a:lnTo>
                <a:lnTo>
                  <a:pt x="9813541" y="486907"/>
                </a:lnTo>
                <a:lnTo>
                  <a:pt x="0" y="486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1" t="0" r="-115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51460"/>
            <a:ext cx="13072675" cy="86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5000">
                <a:solidFill>
                  <a:srgbClr val="E1CBA7"/>
                </a:solidFill>
                <a:latin typeface="Oswald Bold"/>
                <a:ea typeface="Oswald Bold"/>
                <a:cs typeface="Oswald Bold"/>
                <a:sym typeface="Oswald Bold"/>
              </a:rPr>
              <a:t>Testlerin Çalıştırılması ve Sonuç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8875" y="2722490"/>
            <a:ext cx="15410250" cy="896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60" indent="-28068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</a:t>
            </a:r>
            <a:r>
              <a:rPr lang="en-US" sz="2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omutu, projede varsayılan olarak functional etiketli testler çalışır. Yani GET, POST ve DELETE istekleri için status code ve response body kontrolleri yapılır.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8235" y="4819821"/>
            <a:ext cx="15313852" cy="89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</a:t>
            </a:r>
            <a:r>
              <a:rPr lang="en-US" sz="2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omutu ise Maven’daki performance profilini aktif eder. Bu profil ile response time kontrolleri çalıştırılır. Yani API’nin belirlenen süre limitleri içinde cevap verip vermediği test edilir.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768828" y="5996769"/>
            <a:ext cx="8750343" cy="3804988"/>
          </a:xfrm>
          <a:custGeom>
            <a:avLst/>
            <a:gdLst/>
            <a:ahLst/>
            <a:cxnLst/>
            <a:rect r="r" b="b" t="t" l="l"/>
            <a:pathLst>
              <a:path h="3804988" w="8750343">
                <a:moveTo>
                  <a:pt x="0" y="0"/>
                </a:moveTo>
                <a:lnTo>
                  <a:pt x="8750344" y="0"/>
                </a:lnTo>
                <a:lnTo>
                  <a:pt x="8750344" y="3804988"/>
                </a:lnTo>
                <a:lnTo>
                  <a:pt x="0" y="380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835903" y="3890002"/>
            <a:ext cx="16616194" cy="0"/>
          </a:xfrm>
          <a:prstGeom prst="line">
            <a:avLst/>
          </a:prstGeom>
          <a:ln cap="rnd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9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3787" y="4026689"/>
            <a:ext cx="7620427" cy="2014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66"/>
              </a:lnSpc>
              <a:spcBef>
                <a:spcPct val="0"/>
              </a:spcBef>
            </a:pPr>
            <a:r>
              <a:rPr lang="en-US" sz="11832">
                <a:solidFill>
                  <a:srgbClr val="E1CBA7"/>
                </a:solidFill>
                <a:latin typeface="Oswald"/>
                <a:ea typeface="Oswald"/>
                <a:cs typeface="Oswald"/>
                <a:sym typeface="Oswald"/>
              </a:rPr>
              <a:t>TEŞEKKÜRLER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DAHJqcLnhHo</dc:identifier>
  <dcterms:modified xsi:type="dcterms:W3CDTF">2011-08-01T06:04:30Z</dcterms:modified>
  <cp:revision>1</cp:revision>
  <dc:title>Mavi Koyu Sade Sunum</dc:title>
</cp:coreProperties>
</file>